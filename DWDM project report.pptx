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"/>
  </p:notesMasterIdLst>
  <p:sldIdLst>
    <p:sldId id="262" r:id="rId3"/>
    <p:sldId id="256" r:id="rId4"/>
    <p:sldId id="263" r:id="rId6"/>
    <p:sldId id="258" r:id="rId7"/>
    <p:sldId id="259" r:id="rId8"/>
    <p:sldId id="260" r:id="rId9"/>
    <p:sldId id="261" r:id="rId10"/>
    <p:sldId id="271" r:id="rId11"/>
    <p:sldId id="264" r:id="rId12"/>
    <p:sldId id="265" r:id="rId13"/>
    <p:sldId id="267" r:id="rId14"/>
    <p:sldId id="268" r:id="rId15"/>
    <p:sldId id="269" r:id="rId16"/>
    <p:sldId id="270" r:id="rId17"/>
  </p:sldIdLst>
  <p:sldSz cx="14630400" cy="8229600"/>
  <p:notesSz cx="8229600" cy="14630400"/>
  <p:embeddedFontLst>
    <p:embeddedFont>
      <p:font typeface="Brygada 1918 Semi Bold" pitchFamily="34" charset="0"/>
      <p:regular r:id="rId21"/>
    </p:embeddedFont>
    <p:embeddedFont>
      <p:font typeface="Brygada 1918 Semi Bold" pitchFamily="34" charset="-122"/>
      <p:regular r:id="rId22"/>
    </p:embeddedFont>
    <p:embeddedFont>
      <p:font typeface="Brygada 1918 Semi Bold" pitchFamily="34" charset="-120"/>
      <p:regular r:id="rId23"/>
    </p:embeddedFont>
    <p:embeddedFont>
      <p:font typeface="Brygada 1918" pitchFamily="34" charset="0"/>
      <p:bold r:id="rId24"/>
    </p:embeddedFont>
    <p:embeddedFont>
      <p:font typeface="Brygada 1918" pitchFamily="34" charset="-122"/>
      <p:bold r:id="rId25"/>
    </p:embeddedFont>
    <p:embeddedFont>
      <p:font typeface="Brygada 1918" pitchFamily="34" charset="-120"/>
      <p:bold r:id="rId26"/>
    </p:embeddedFont>
    <p:embeddedFont>
      <p:font typeface="Bahnschrift" panose="020B0502040204020203" charset="0"/>
      <p:regular r:id="rId27"/>
      <p:bold r:id="rId28"/>
    </p:embeddedFont>
    <p:embeddedFont>
      <p:font typeface="Calibri" panose="020F0502020204030204" charset="0"/>
      <p:regular r:id="rId29"/>
      <p:bold r:id="rId30"/>
      <p:italic r:id="rId31"/>
      <p:boldItalic r:id="rId3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30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2" Type="http://schemas.openxmlformats.org/officeDocument/2006/relationships/font" Target="fonts/font12.fntdata"/><Relationship Id="rId31" Type="http://schemas.openxmlformats.org/officeDocument/2006/relationships/font" Target="fonts/font11.fntdata"/><Relationship Id="rId30" Type="http://schemas.openxmlformats.org/officeDocument/2006/relationships/font" Target="fonts/font10.fntdata"/><Relationship Id="rId3" Type="http://schemas.openxmlformats.org/officeDocument/2006/relationships/slide" Target="slides/slide1.xml"/><Relationship Id="rId29" Type="http://schemas.openxmlformats.org/officeDocument/2006/relationships/font" Target="fonts/font9.fntdata"/><Relationship Id="rId28" Type="http://schemas.openxmlformats.org/officeDocument/2006/relationships/font" Target="fonts/font8.fntdata"/><Relationship Id="rId27" Type="http://schemas.openxmlformats.org/officeDocument/2006/relationships/font" Target="fonts/font7.fntdata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.svg"/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507740" y="890905"/>
            <a:ext cx="6979920" cy="1908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sz="6000"/>
              <a:t>Data Warehouse And 	Data Mining</a:t>
            </a:r>
            <a:endParaRPr lang="en-IN" altLang="en-US" sz="6000"/>
          </a:p>
        </p:txBody>
      </p:sp>
      <p:sp>
        <p:nvSpPr>
          <p:cNvPr id="3" name="Text Box 2"/>
          <p:cNvSpPr txBox="1"/>
          <p:nvPr/>
        </p:nvSpPr>
        <p:spPr>
          <a:xfrm>
            <a:off x="3448685" y="3842385"/>
            <a:ext cx="76854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914400" lvl="2" indent="457200"/>
            <a:r>
              <a:rPr lang="en-IN" altLang="en-US" sz="4000"/>
              <a:t>Project Report</a:t>
            </a:r>
            <a:endParaRPr lang="en-IN" altLang="en-US" sz="4000"/>
          </a:p>
        </p:txBody>
      </p:sp>
      <p:sp>
        <p:nvSpPr>
          <p:cNvPr id="9" name="Rectangle 8"/>
          <p:cNvSpPr/>
          <p:nvPr/>
        </p:nvSpPr>
        <p:spPr>
          <a:xfrm>
            <a:off x="12686030" y="7732395"/>
            <a:ext cx="1910080" cy="4972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1675" y="4923155"/>
            <a:ext cx="2417445" cy="426085"/>
          </a:xfrm>
          <a:prstGeom prst="roundRect">
            <a:avLst>
              <a:gd name="adj" fmla="val 63859"/>
            </a:avLst>
          </a:prstGeom>
          <a:solidFill>
            <a:srgbClr val="EAEDDE"/>
          </a:solidFill>
        </p:spPr>
      </p:sp>
      <p:sp>
        <p:nvSpPr>
          <p:cNvPr id="3" name="Text 1"/>
          <p:cNvSpPr/>
          <p:nvPr/>
        </p:nvSpPr>
        <p:spPr>
          <a:xfrm>
            <a:off x="793750" y="5075555"/>
            <a:ext cx="1558290" cy="3721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IN" altLang="en-US" dirty="0"/>
              <a:t>23BCE9836 - G.Sharun</a:t>
            </a:r>
            <a:endParaRPr lang="en-IN" altLang="en-US" dirty="0"/>
          </a:p>
        </p:txBody>
      </p:sp>
      <p:sp>
        <p:nvSpPr>
          <p:cNvPr id="4" name="Text 2"/>
          <p:cNvSpPr/>
          <p:nvPr/>
        </p:nvSpPr>
        <p:spPr>
          <a:xfrm>
            <a:off x="793750" y="653415"/>
            <a:ext cx="12747625" cy="15640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1828800" lvl="4" indent="457200" algn="l">
              <a:lnSpc>
                <a:spcPts val="5550"/>
              </a:lnSpc>
              <a:buNone/>
            </a:pPr>
            <a:r>
              <a:rPr lang="en-US" sz="6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E-Commerce Product</a:t>
            </a:r>
            <a:endParaRPr lang="en-US" sz="6000" dirty="0">
              <a:solidFill>
                <a:srgbClr val="403011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  <a:p>
            <a:pPr marL="0" indent="0" algn="l">
              <a:lnSpc>
                <a:spcPts val="5550"/>
              </a:lnSpc>
              <a:buNone/>
            </a:pPr>
            <a:r>
              <a:rPr lang="en-US" sz="6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</a:t>
            </a:r>
            <a:r>
              <a:rPr lang="en-IN" altLang="en-US" sz="6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		</a:t>
            </a:r>
            <a:r>
              <a:rPr lang="en-US" sz="6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Recommendation</a:t>
            </a:r>
            <a:r>
              <a:rPr lang="en-IN" altLang="en-US" sz="6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</a:t>
            </a:r>
            <a:r>
              <a:rPr lang="en-US" sz="6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System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5795" y="2505075"/>
            <a:ext cx="13042900" cy="1104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An intelligent system that analyzes customer purchase patterns and user similarity to deliver personalized product recommendations at scale.</a:t>
            </a:r>
            <a:endParaRPr lang="en-US" sz="2000" dirty="0"/>
          </a:p>
        </p:txBody>
      </p:sp>
      <p:sp>
        <p:nvSpPr>
          <p:cNvPr id="9" name="Rectangle 8"/>
          <p:cNvSpPr/>
          <p:nvPr/>
        </p:nvSpPr>
        <p:spPr>
          <a:xfrm>
            <a:off x="12697460" y="7710170"/>
            <a:ext cx="1910080" cy="4972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Shape 0"/>
          <p:cNvSpPr/>
          <p:nvPr/>
        </p:nvSpPr>
        <p:spPr>
          <a:xfrm>
            <a:off x="701675" y="5636895"/>
            <a:ext cx="2417445" cy="426085"/>
          </a:xfrm>
          <a:prstGeom prst="roundRect">
            <a:avLst>
              <a:gd name="adj" fmla="val 63859"/>
            </a:avLst>
          </a:prstGeom>
          <a:solidFill>
            <a:srgbClr val="EAEDDE"/>
          </a:solidFill>
        </p:spPr>
        <p:txBody>
          <a:bodyPr/>
          <a:p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645795" y="5636895"/>
            <a:ext cx="2352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/>
              <a:t>   24BCD7127 -Raghava</a:t>
            </a:r>
            <a:endParaRPr lang="en-IN" altLang="en-US"/>
          </a:p>
        </p:txBody>
      </p:sp>
      <p:sp>
        <p:nvSpPr>
          <p:cNvPr id="8" name="Text Box 7"/>
          <p:cNvSpPr txBox="1"/>
          <p:nvPr/>
        </p:nvSpPr>
        <p:spPr>
          <a:xfrm>
            <a:off x="645795" y="4224020"/>
            <a:ext cx="40049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800">
                <a:solidFill>
                  <a:srgbClr val="403011"/>
                </a:solidFill>
              </a:rPr>
              <a:t>Group Members</a:t>
            </a:r>
            <a:endParaRPr lang="en-IN" altLang="en-US" sz="2800">
              <a:solidFill>
                <a:srgbClr val="40301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93790" y="887968"/>
            <a:ext cx="8347115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IN" alt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Problem Statement</a:t>
            </a:r>
            <a:endParaRPr lang="en-IN" altLang="en-US" sz="4450" dirty="0">
              <a:solidFill>
                <a:srgbClr val="403011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30436" y="3811429"/>
            <a:ext cx="6571417" cy="2100739"/>
          </a:xfrm>
          <a:prstGeom prst="roundRect">
            <a:avLst>
              <a:gd name="adj" fmla="val 25914"/>
            </a:avLst>
          </a:prstGeom>
          <a:solidFill>
            <a:srgbClr val="626C3B"/>
          </a:solidFill>
        </p:spPr>
      </p:sp>
      <p:sp>
        <p:nvSpPr>
          <p:cNvPr id="5" name="Text 3"/>
          <p:cNvSpPr/>
          <p:nvPr/>
        </p:nvSpPr>
        <p:spPr>
          <a:xfrm>
            <a:off x="857250" y="403824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7250" y="4619387"/>
            <a:ext cx="6117788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Customers struggle to find relevant products among thousands of items on large e-commerce platforms — leading to poor shopping experiences and reduced sales.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403824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619387"/>
            <a:ext cx="6244709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An intelligent recommendation system that analyzes </a:t>
            </a: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purchase patterns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and </a:t>
            </a: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user similarity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to surface the right products for each customer — automatically and at scale.</a:t>
            </a:r>
            <a:endParaRPr lang="en-US" sz="1750" dirty="0"/>
          </a:p>
        </p:txBody>
      </p:sp>
      <p:sp>
        <p:nvSpPr>
          <p:cNvPr id="9" name="Rectangle 8"/>
          <p:cNvSpPr/>
          <p:nvPr/>
        </p:nvSpPr>
        <p:spPr>
          <a:xfrm>
            <a:off x="12593955" y="7732395"/>
            <a:ext cx="1910080" cy="4972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2115" y="647938"/>
            <a:ext cx="5229939" cy="6537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Approach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32115" y="1687592"/>
            <a:ext cx="13166169" cy="1549837"/>
          </a:xfrm>
          <a:prstGeom prst="roundRect">
            <a:avLst>
              <a:gd name="adj" fmla="val 20247"/>
            </a:avLst>
          </a:prstGeom>
          <a:solidFill>
            <a:srgbClr val="F6EBD4"/>
          </a:solidFill>
          <a:ln w="22860">
            <a:solidFill>
              <a:srgbClr val="626C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4975" y="1710452"/>
            <a:ext cx="836771" cy="1504117"/>
          </a:xfrm>
          <a:prstGeom prst="roundRect">
            <a:avLst>
              <a:gd name="adj" fmla="val 34223"/>
            </a:avLst>
          </a:prstGeom>
          <a:solidFill>
            <a:srgbClr val="626C3B"/>
          </a:solidFill>
        </p:spPr>
      </p:sp>
      <p:sp>
        <p:nvSpPr>
          <p:cNvPr id="5" name="Text 3"/>
          <p:cNvSpPr/>
          <p:nvPr/>
        </p:nvSpPr>
        <p:spPr>
          <a:xfrm>
            <a:off x="1012627" y="2266355"/>
            <a:ext cx="313730" cy="3921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1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1784628" y="1919645"/>
            <a:ext cx="3973830" cy="3268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Data Collection &amp; Preprocessing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784628" y="2362200"/>
            <a:ext cx="11881604" cy="6431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Use an e-commerce dataset with customer transactions. Clean data, remove missing values, and convert to a suitable format.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2115" y="3430310"/>
            <a:ext cx="13166169" cy="1255157"/>
          </a:xfrm>
          <a:prstGeom prst="roundRect">
            <a:avLst>
              <a:gd name="adj" fmla="val 25001"/>
            </a:avLst>
          </a:prstGeom>
          <a:solidFill>
            <a:srgbClr val="F6EBD4"/>
          </a:solidFill>
          <a:ln w="22860">
            <a:solidFill>
              <a:srgbClr val="8379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4975" y="3453170"/>
            <a:ext cx="836771" cy="1209437"/>
          </a:xfrm>
          <a:prstGeom prst="roundRect">
            <a:avLst>
              <a:gd name="adj" fmla="val 34223"/>
            </a:avLst>
          </a:prstGeom>
          <a:solidFill>
            <a:srgbClr val="83792E"/>
          </a:solidFill>
        </p:spPr>
      </p:sp>
      <p:sp>
        <p:nvSpPr>
          <p:cNvPr id="10" name="Text 8"/>
          <p:cNvSpPr/>
          <p:nvPr/>
        </p:nvSpPr>
        <p:spPr>
          <a:xfrm>
            <a:off x="1012627" y="3861792"/>
            <a:ext cx="313730" cy="3921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2</a:t>
            </a:r>
            <a:endParaRPr lang="en-US" sz="2450" dirty="0"/>
          </a:p>
        </p:txBody>
      </p:sp>
      <p:sp>
        <p:nvSpPr>
          <p:cNvPr id="11" name="Text 9"/>
          <p:cNvSpPr/>
          <p:nvPr/>
        </p:nvSpPr>
        <p:spPr>
          <a:xfrm>
            <a:off x="1784628" y="3662363"/>
            <a:ext cx="2664976" cy="3268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FP-Growth Algorithm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1784628" y="4104918"/>
            <a:ext cx="11881604" cy="3215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Apply market basket analysis to discover products frequently bought together.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2115" y="4878348"/>
            <a:ext cx="13166169" cy="1255157"/>
          </a:xfrm>
          <a:prstGeom prst="roundRect">
            <a:avLst>
              <a:gd name="adj" fmla="val 25001"/>
            </a:avLst>
          </a:prstGeom>
          <a:solidFill>
            <a:srgbClr val="F6EBD4"/>
          </a:solidFill>
          <a:ln w="22860">
            <a:solidFill>
              <a:srgbClr val="E8AF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4975" y="4901208"/>
            <a:ext cx="836771" cy="1209437"/>
          </a:xfrm>
          <a:prstGeom prst="roundRect">
            <a:avLst>
              <a:gd name="adj" fmla="val 34223"/>
            </a:avLst>
          </a:prstGeom>
          <a:solidFill>
            <a:srgbClr val="E8AF3B"/>
          </a:solidFill>
        </p:spPr>
      </p:sp>
      <p:sp>
        <p:nvSpPr>
          <p:cNvPr id="15" name="Text 13"/>
          <p:cNvSpPr/>
          <p:nvPr/>
        </p:nvSpPr>
        <p:spPr>
          <a:xfrm>
            <a:off x="1012627" y="5309830"/>
            <a:ext cx="313730" cy="3921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3</a:t>
            </a:r>
            <a:endParaRPr lang="en-US" sz="2450" dirty="0"/>
          </a:p>
        </p:txBody>
      </p:sp>
      <p:sp>
        <p:nvSpPr>
          <p:cNvPr id="16" name="Text 14"/>
          <p:cNvSpPr/>
          <p:nvPr/>
        </p:nvSpPr>
        <p:spPr>
          <a:xfrm>
            <a:off x="1784628" y="5110401"/>
            <a:ext cx="2778919" cy="3268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Collaborative Filtering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1784628" y="5552956"/>
            <a:ext cx="11881604" cy="3215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Build a user–item interaction matrix to identify similar users and recommend based on purchase behavior.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2115" y="6326386"/>
            <a:ext cx="13166169" cy="1255157"/>
          </a:xfrm>
          <a:prstGeom prst="roundRect">
            <a:avLst>
              <a:gd name="adj" fmla="val 25001"/>
            </a:avLst>
          </a:prstGeom>
          <a:solidFill>
            <a:srgbClr val="F6EBD4"/>
          </a:solidFill>
          <a:ln w="22860">
            <a:solidFill>
              <a:srgbClr val="CC91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4975" y="6349246"/>
            <a:ext cx="836771" cy="1209437"/>
          </a:xfrm>
          <a:prstGeom prst="roundRect">
            <a:avLst>
              <a:gd name="adj" fmla="val 34223"/>
            </a:avLst>
          </a:prstGeom>
          <a:solidFill>
            <a:srgbClr val="CC914D"/>
          </a:solidFill>
        </p:spPr>
      </p:sp>
      <p:sp>
        <p:nvSpPr>
          <p:cNvPr id="20" name="Text 18"/>
          <p:cNvSpPr/>
          <p:nvPr/>
        </p:nvSpPr>
        <p:spPr>
          <a:xfrm>
            <a:off x="1012627" y="6757868"/>
            <a:ext cx="313730" cy="3921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4</a:t>
            </a:r>
            <a:endParaRPr lang="en-US" sz="2450" dirty="0"/>
          </a:p>
        </p:txBody>
      </p:sp>
      <p:sp>
        <p:nvSpPr>
          <p:cNvPr id="21" name="Text 19"/>
          <p:cNvSpPr/>
          <p:nvPr/>
        </p:nvSpPr>
        <p:spPr>
          <a:xfrm>
            <a:off x="1784628" y="6558439"/>
            <a:ext cx="3348157" cy="3268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Integration &amp; Visualization</a:t>
            </a:r>
            <a:endParaRPr lang="en-US" sz="2050" dirty="0"/>
          </a:p>
        </p:txBody>
      </p:sp>
      <p:sp>
        <p:nvSpPr>
          <p:cNvPr id="22" name="Text 20"/>
          <p:cNvSpPr/>
          <p:nvPr/>
        </p:nvSpPr>
        <p:spPr>
          <a:xfrm>
            <a:off x="1784628" y="7000994"/>
            <a:ext cx="11881604" cy="3215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Combine FP-Growth and Collaborative Filtering results, then display insights via an interactive dashboard.</a:t>
            </a:r>
            <a:endParaRPr lang="en-US" sz="1600" dirty="0"/>
          </a:p>
        </p:txBody>
      </p:sp>
      <p:sp>
        <p:nvSpPr>
          <p:cNvPr id="24" name="Rectangle 23"/>
          <p:cNvSpPr/>
          <p:nvPr/>
        </p:nvSpPr>
        <p:spPr>
          <a:xfrm>
            <a:off x="12628245" y="7732395"/>
            <a:ext cx="1910080" cy="4972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8461" y="517327"/>
            <a:ext cx="4927521" cy="5703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How the System Works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461" y="1473041"/>
            <a:ext cx="6074093" cy="607409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61" y="1473041"/>
            <a:ext cx="6074093" cy="607409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44832" y="1473279"/>
            <a:ext cx="2281357" cy="285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FP-Growth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7545467" y="2029063"/>
            <a:ext cx="6074093" cy="5269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IN" altLang="en-US" sz="2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Finds products that are often bought together by analyzing frequent patterns in data</a:t>
            </a:r>
            <a:r>
              <a:rPr lang="en-US" sz="2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.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7545467" y="3310878"/>
            <a:ext cx="6074093" cy="30361"/>
          </a:xfrm>
          <a:prstGeom prst="rect">
            <a:avLst/>
          </a:prstGeom>
          <a:solidFill>
            <a:srgbClr val="403011">
              <a:alpha val="50000"/>
            </a:srgbClr>
          </a:solidFill>
        </p:spPr>
        <p:txBody>
          <a:bodyPr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7544832" y="3651131"/>
            <a:ext cx="2425660" cy="285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Collaborative Filtering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7545467" y="4246285"/>
            <a:ext cx="6074093" cy="5269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IN" altLang="en-US" sz="2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Recommends items based on the preference of similar users.</a:t>
            </a:r>
            <a:endParaRPr lang="en-IN" altLang="en-US" sz="24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2050"/>
              </a:lnSpc>
              <a:buNone/>
            </a:pPr>
            <a:r>
              <a:rPr lang="en-IN" altLang="en-US" sz="2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it assumes users with similar behaviour will like similar products</a:t>
            </a:r>
            <a:endParaRPr lang="en-IN" altLang="en-US" sz="24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616815" y="7732395"/>
            <a:ext cx="1910080" cy="4972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6208" y="643771"/>
            <a:ext cx="4662130" cy="5632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6-Week Line of Action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7303651" y="1493520"/>
            <a:ext cx="22860" cy="6092190"/>
          </a:xfrm>
          <a:prstGeom prst="roundRect">
            <a:avLst>
              <a:gd name="adj" fmla="val 1182812"/>
            </a:avLst>
          </a:prstGeom>
          <a:solidFill>
            <a:srgbClr val="000000">
              <a:alpha val="8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6594515" y="1684853"/>
            <a:ext cx="540663" cy="22860"/>
          </a:xfrm>
          <a:prstGeom prst="roundRect">
            <a:avLst>
              <a:gd name="adj" fmla="val 1182812"/>
            </a:avLst>
          </a:prstGeom>
          <a:solidFill>
            <a:srgbClr val="7B8554"/>
          </a:solidFill>
        </p:spPr>
      </p:sp>
      <p:sp>
        <p:nvSpPr>
          <p:cNvPr id="5" name="Shape 3"/>
          <p:cNvSpPr/>
          <p:nvPr/>
        </p:nvSpPr>
        <p:spPr>
          <a:xfrm>
            <a:off x="7112318" y="1493520"/>
            <a:ext cx="405527" cy="405527"/>
          </a:xfrm>
          <a:prstGeom prst="roundRect">
            <a:avLst>
              <a:gd name="adj" fmla="val 66676"/>
            </a:avLst>
          </a:prstGeom>
          <a:solidFill>
            <a:srgbClr val="626C3B"/>
          </a:solidFill>
          <a:ln w="7620">
            <a:solidFill>
              <a:srgbClr val="7B85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9945" y="1527334"/>
            <a:ext cx="270272" cy="3378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160758" y="1555432"/>
            <a:ext cx="2253139" cy="2815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2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Week </a:t>
            </a:r>
            <a:r>
              <a:rPr lang="en-US" sz="2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96208" y="1922859"/>
            <a:ext cx="5317688" cy="2587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Problem understanding &amp; dataset collection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494984" y="2692241"/>
            <a:ext cx="540663" cy="22860"/>
          </a:xfrm>
          <a:prstGeom prst="roundRect">
            <a:avLst>
              <a:gd name="adj" fmla="val 1182812"/>
            </a:avLst>
          </a:prstGeom>
          <a:solidFill>
            <a:srgbClr val="9C9247"/>
          </a:solidFill>
        </p:spPr>
      </p:sp>
      <p:sp>
        <p:nvSpPr>
          <p:cNvPr id="10" name="Shape 8"/>
          <p:cNvSpPr/>
          <p:nvPr/>
        </p:nvSpPr>
        <p:spPr>
          <a:xfrm>
            <a:off x="7112318" y="2500908"/>
            <a:ext cx="405527" cy="405527"/>
          </a:xfrm>
          <a:prstGeom prst="roundRect">
            <a:avLst>
              <a:gd name="adj" fmla="val 66676"/>
            </a:avLst>
          </a:prstGeom>
          <a:solidFill>
            <a:srgbClr val="83792E"/>
          </a:solidFill>
          <a:ln w="7620">
            <a:solidFill>
              <a:srgbClr val="9C92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9945" y="2534722"/>
            <a:ext cx="270272" cy="3378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216265" y="2562820"/>
            <a:ext cx="2253139" cy="2815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Week 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216265" y="2930247"/>
            <a:ext cx="5317808" cy="2587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Data preprocessing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94515" y="3587353"/>
            <a:ext cx="540663" cy="22860"/>
          </a:xfrm>
          <a:prstGeom prst="roundRect">
            <a:avLst>
              <a:gd name="adj" fmla="val 1182812"/>
            </a:avLst>
          </a:prstGeom>
          <a:solidFill>
            <a:srgbClr val="CE9521"/>
          </a:solidFill>
        </p:spPr>
      </p:sp>
      <p:sp>
        <p:nvSpPr>
          <p:cNvPr id="15" name="Shape 13"/>
          <p:cNvSpPr/>
          <p:nvPr/>
        </p:nvSpPr>
        <p:spPr>
          <a:xfrm>
            <a:off x="7112318" y="3396020"/>
            <a:ext cx="405527" cy="405527"/>
          </a:xfrm>
          <a:prstGeom prst="roundRect">
            <a:avLst>
              <a:gd name="adj" fmla="val 66676"/>
            </a:avLst>
          </a:prstGeom>
          <a:solidFill>
            <a:srgbClr val="E8AF3B"/>
          </a:solidFill>
          <a:ln w="7620">
            <a:solidFill>
              <a:srgbClr val="CE952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9945" y="3429833"/>
            <a:ext cx="270272" cy="3378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160758" y="3457932"/>
            <a:ext cx="2253139" cy="2815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2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Week 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96208" y="3825359"/>
            <a:ext cx="5317688" cy="2587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FP-Growth algorithm implementation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494984" y="4482584"/>
            <a:ext cx="540663" cy="22860"/>
          </a:xfrm>
          <a:prstGeom prst="roundRect">
            <a:avLst>
              <a:gd name="adj" fmla="val 1182812"/>
            </a:avLst>
          </a:prstGeom>
          <a:solidFill>
            <a:srgbClr val="B27733"/>
          </a:solidFill>
        </p:spPr>
      </p:sp>
      <p:sp>
        <p:nvSpPr>
          <p:cNvPr id="20" name="Shape 18"/>
          <p:cNvSpPr/>
          <p:nvPr/>
        </p:nvSpPr>
        <p:spPr>
          <a:xfrm>
            <a:off x="7112318" y="4291251"/>
            <a:ext cx="405527" cy="405527"/>
          </a:xfrm>
          <a:prstGeom prst="roundRect">
            <a:avLst>
              <a:gd name="adj" fmla="val 66676"/>
            </a:avLst>
          </a:prstGeom>
          <a:solidFill>
            <a:srgbClr val="CC914D"/>
          </a:solidFill>
          <a:ln w="7620">
            <a:solidFill>
              <a:srgbClr val="B277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9945" y="4325064"/>
            <a:ext cx="270272" cy="3378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4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216265" y="4353163"/>
            <a:ext cx="2253139" cy="2815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Week 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216265" y="4720590"/>
            <a:ext cx="5317808" cy="2587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Collaborative filtering implementation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594515" y="5377815"/>
            <a:ext cx="540663" cy="22860"/>
          </a:xfrm>
          <a:prstGeom prst="roundRect">
            <a:avLst>
              <a:gd name="adj" fmla="val 1182812"/>
            </a:avLst>
          </a:prstGeom>
          <a:solidFill>
            <a:srgbClr val="7B8554"/>
          </a:solidFill>
        </p:spPr>
      </p:sp>
      <p:sp>
        <p:nvSpPr>
          <p:cNvPr id="25" name="Shape 23"/>
          <p:cNvSpPr/>
          <p:nvPr/>
        </p:nvSpPr>
        <p:spPr>
          <a:xfrm>
            <a:off x="7112318" y="5186482"/>
            <a:ext cx="405527" cy="405527"/>
          </a:xfrm>
          <a:prstGeom prst="roundRect">
            <a:avLst>
              <a:gd name="adj" fmla="val 66676"/>
            </a:avLst>
          </a:prstGeom>
          <a:solidFill>
            <a:srgbClr val="626C3B"/>
          </a:solidFill>
          <a:ln w="7620">
            <a:solidFill>
              <a:srgbClr val="7B85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9945" y="5220295"/>
            <a:ext cx="270272" cy="3378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5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4160758" y="5248394"/>
            <a:ext cx="2253139" cy="2815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2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Week 5</a:t>
            </a:r>
            <a:endParaRPr lang="en-US" sz="2800" dirty="0">
              <a:solidFill>
                <a:srgbClr val="403011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96208" y="5615821"/>
            <a:ext cx="5317688" cy="2587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Recommendation system integration</a:t>
            </a:r>
            <a:endParaRPr lang="en-US" sz="20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494984" y="6273046"/>
            <a:ext cx="540663" cy="22860"/>
          </a:xfrm>
          <a:prstGeom prst="roundRect">
            <a:avLst>
              <a:gd name="adj" fmla="val 1182812"/>
            </a:avLst>
          </a:prstGeom>
          <a:solidFill>
            <a:srgbClr val="9C9247"/>
          </a:solidFill>
        </p:spPr>
      </p:sp>
      <p:sp>
        <p:nvSpPr>
          <p:cNvPr id="30" name="Shape 28"/>
          <p:cNvSpPr/>
          <p:nvPr/>
        </p:nvSpPr>
        <p:spPr>
          <a:xfrm>
            <a:off x="7112318" y="6081713"/>
            <a:ext cx="405527" cy="405527"/>
          </a:xfrm>
          <a:prstGeom prst="roundRect">
            <a:avLst>
              <a:gd name="adj" fmla="val 66676"/>
            </a:avLst>
          </a:prstGeom>
          <a:solidFill>
            <a:srgbClr val="83792E"/>
          </a:solidFill>
          <a:ln w="7620">
            <a:solidFill>
              <a:srgbClr val="9C92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79945" y="6115526"/>
            <a:ext cx="270272" cy="3378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6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8216265" y="6143625"/>
            <a:ext cx="2253139" cy="2815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Week 6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8216265" y="6511052"/>
            <a:ext cx="5317808" cy="2587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Visualization &amp; final evaluation</a:t>
            </a:r>
            <a:endParaRPr lang="en-US" sz="2000" dirty="0"/>
          </a:p>
        </p:txBody>
      </p:sp>
      <p:sp>
        <p:nvSpPr>
          <p:cNvPr id="34" name="Rectangle 33"/>
          <p:cNvSpPr/>
          <p:nvPr/>
        </p:nvSpPr>
        <p:spPr>
          <a:xfrm>
            <a:off x="12628880" y="7732395"/>
            <a:ext cx="1910080" cy="4972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6157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Tools &amp; Technologies</a:t>
            </a:r>
            <a:endParaRPr lang="en-US" sz="4450" dirty="0">
              <a:solidFill>
                <a:srgbClr val="403011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481149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05704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Python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2547461"/>
            <a:ext cx="415861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Core programming language for algorithm development and data processing.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893" y="3481149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205704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VS Code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2547461"/>
            <a:ext cx="415861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Interactive development environment for building and testing the recommendation models.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77995" y="3481149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205704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Tableau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2547461"/>
            <a:ext cx="415861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Visualization dashboard to display product trends and recommendation insights.</a:t>
            </a:r>
            <a:endParaRPr lang="en-US" sz="1750" dirty="0"/>
          </a:p>
        </p:txBody>
      </p:sp>
      <p:sp>
        <p:nvSpPr>
          <p:cNvPr id="12" name="Text Box 11"/>
          <p:cNvSpPr txBox="1"/>
          <p:nvPr/>
        </p:nvSpPr>
        <p:spPr>
          <a:xfrm>
            <a:off x="809625" y="4559300"/>
            <a:ext cx="8585200" cy="753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4300">
                <a:solidFill>
                  <a:srgbClr val="40301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DataSet Used</a:t>
            </a:r>
            <a:endParaRPr lang="en-IN" altLang="en-US" sz="4300">
              <a:solidFill>
                <a:srgbClr val="40301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913765" y="5381625"/>
            <a:ext cx="403860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solidFill>
                  <a:srgbClr val="403011"/>
                </a:solidFill>
                <a:latin typeface="Bahnschrift" panose="020B0502040204020203" charset="0"/>
                <a:cs typeface="Bahnschrift" panose="020B0502040204020203" charset="0"/>
              </a:rPr>
              <a:t>InstaCart Online Grocery</a:t>
            </a:r>
            <a:r>
              <a:rPr lang="en-IN" altLang="en-US">
                <a:solidFill>
                  <a:srgbClr val="403011"/>
                </a:solidFill>
                <a:latin typeface="Bahnschrift" panose="020B0502040204020203" charset="0"/>
                <a:cs typeface="Bahnschrift" panose="020B0502040204020203" charset="0"/>
              </a:rPr>
              <a:t> dataset-Kaggle</a:t>
            </a:r>
            <a:endParaRPr lang="en-IN" altLang="en-US">
              <a:solidFill>
                <a:srgbClr val="40301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endParaRPr lang="en-IN" altLang="en-US">
              <a:solidFill>
                <a:srgbClr val="40301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IN" altLang="en-US">
                <a:solidFill>
                  <a:srgbClr val="403011"/>
                </a:solidFill>
                <a:latin typeface="Bahnschrift" panose="020B0502040204020203" charset="0"/>
                <a:cs typeface="Bahnschrift" panose="020B0502040204020203" charset="0"/>
              </a:rPr>
              <a:t>link--</a:t>
            </a:r>
            <a:r>
              <a:rPr lang="en-US" altLang="en-US">
                <a:solidFill>
                  <a:srgbClr val="403011"/>
                </a:solidFill>
                <a:latin typeface="Bahnschrift" panose="020B0502040204020203" charset="0"/>
                <a:cs typeface="Bahnschrift" panose="020B0502040204020203" charset="0"/>
              </a:rPr>
              <a:t>https://www.kaggle.com/datasets/yasserh/instacart-online-grocery-basket-analysis-dataset</a:t>
            </a:r>
            <a:r>
              <a:rPr lang="en-IN" altLang="en-US">
                <a:solidFill>
                  <a:srgbClr val="403011"/>
                </a:solidFill>
                <a:latin typeface="Bahnschrift" panose="020B0502040204020203" charset="0"/>
                <a:cs typeface="Bahnschrift" panose="020B0502040204020203" charset="0"/>
              </a:rPr>
              <a:t> </a:t>
            </a:r>
            <a:endParaRPr lang="en-IN" altLang="en-US">
              <a:solidFill>
                <a:srgbClr val="40301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2628880" y="7732395"/>
            <a:ext cx="1910080" cy="4972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97560" y="821055"/>
            <a:ext cx="1216533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3600">
                <a:sym typeface="+mn-ea"/>
              </a:rPr>
              <a:t>Exploratory Data Analysis Result</a:t>
            </a:r>
            <a:endParaRPr lang="en-IN" altLang="en-US" sz="3600">
              <a:sym typeface="+mn-ea"/>
            </a:endParaRPr>
          </a:p>
          <a:p>
            <a:endParaRPr lang="en-IN" altLang="en-US" sz="3600"/>
          </a:p>
          <a:p>
            <a:endParaRPr lang="en-US" sz="36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4795" y="652145"/>
            <a:ext cx="3790950" cy="692467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2628880" y="7732395"/>
            <a:ext cx="1910080" cy="4972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972185" y="832485"/>
            <a:ext cx="13171170" cy="4357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sz="3600"/>
              <a:t>Result</a:t>
            </a:r>
            <a:endParaRPr lang="en-IN" altLang="en-US" sz="3600"/>
          </a:p>
          <a:p>
            <a:endParaRPr lang="en-IN" altLang="en-US" sz="3600"/>
          </a:p>
          <a:p>
            <a:r>
              <a:rPr lang="en-US" altLang="en-US" sz="2000"/>
              <a:t>The system generates product recommendations based on user input. Below are sample outputs:</a:t>
            </a:r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160" y="2651760"/>
            <a:ext cx="4429125" cy="230251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Box 3"/>
          <p:cNvSpPr txBox="1"/>
          <p:nvPr/>
        </p:nvSpPr>
        <p:spPr>
          <a:xfrm>
            <a:off x="996950" y="5189855"/>
            <a:ext cx="13146405" cy="2676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The entered product does not exist in the dataset used by the system.</a:t>
            </a:r>
            <a:endParaRPr lang="en-US" altLang="en-US"/>
          </a:p>
          <a:p>
            <a:r>
              <a:rPr lang="en-US" altLang="en-US"/>
              <a:t>Hence, no recommendations can be generated for the given input.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5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160" y="6128385"/>
            <a:ext cx="5592445" cy="104267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Rectangle 15"/>
          <p:cNvSpPr/>
          <p:nvPr/>
        </p:nvSpPr>
        <p:spPr>
          <a:xfrm>
            <a:off x="12628880" y="7732395"/>
            <a:ext cx="1910080" cy="4972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878840" y="1738630"/>
            <a:ext cx="10521315" cy="2083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The product exists in the dataset but was excluded during preprocessing and model training.</a:t>
            </a:r>
            <a:endParaRPr lang="en-US" altLang="en-US"/>
          </a:p>
          <a:p>
            <a:r>
              <a:rPr lang="en-US" altLang="en-US"/>
              <a:t>This occurs due to filtering of less frequent items to improve performance and reduce sparsity.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325" y="2414270"/>
            <a:ext cx="5462905" cy="98298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Box 5"/>
          <p:cNvSpPr txBox="1"/>
          <p:nvPr/>
        </p:nvSpPr>
        <p:spPr>
          <a:xfrm>
            <a:off x="948690" y="3772535"/>
            <a:ext cx="11192510" cy="3474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The scores represent the average recommendation strength generated by each model. The hybrid model achieves a higher score compared to individual models, indicating improved recommendation quality by combining similarity-based and association-based approaches.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7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" y="5080000"/>
            <a:ext cx="3767455" cy="114871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Rectangle 15"/>
          <p:cNvSpPr/>
          <p:nvPr/>
        </p:nvSpPr>
        <p:spPr>
          <a:xfrm>
            <a:off x="12640310" y="7743825"/>
            <a:ext cx="1910080" cy="4972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43560" y="543560"/>
            <a:ext cx="1232662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3600"/>
              <a:t>Visualizations</a:t>
            </a:r>
            <a:endParaRPr lang="en-IN" altLang="en-US" sz="3600"/>
          </a:p>
          <a:p>
            <a:endParaRPr lang="en-IN" altLang="en-US" sz="3600"/>
          </a:p>
          <a:p>
            <a:r>
              <a:rPr lang="en-US" altLang="en-US"/>
              <a:t>1)Top products bar chart</a:t>
            </a:r>
            <a:endParaRPr lang="en-US" altLang="en-US"/>
          </a:p>
          <a:p>
            <a:r>
              <a:rPr lang="en-US" altLang="en-US"/>
              <a:t>Bar chart of most frequently purchased products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7" name="Picture 7" descr="top produc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5130" y="2306320"/>
            <a:ext cx="9184005" cy="514540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2628880" y="7732395"/>
            <a:ext cx="1910080" cy="4972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913765" y="659130"/>
            <a:ext cx="110769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2)Orders per User Distribution</a:t>
            </a:r>
            <a:endParaRPr lang="en-US" altLang="en-US"/>
          </a:p>
          <a:p>
            <a:r>
              <a:rPr lang="en-US" altLang="en-US"/>
              <a:t>Histogram of number of purchases per user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8" name="Picture 8" descr="oreder frequenc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1460" y="1794510"/>
            <a:ext cx="9244330" cy="557847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2628880" y="7732395"/>
            <a:ext cx="1910080" cy="4972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098550" y="751840"/>
            <a:ext cx="114706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/>
              <a:t>3</a:t>
            </a:r>
            <a:r>
              <a:rPr lang="en-US" altLang="en-US"/>
              <a:t>)Model Comparision graph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pic>
        <p:nvPicPr>
          <p:cNvPr id="10" name="Picture 10" descr="Figure_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0815" y="1118870"/>
            <a:ext cx="7240905" cy="497332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2628880" y="7732395"/>
            <a:ext cx="1910080" cy="4972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388110" y="902335"/>
            <a:ext cx="9850120" cy="4591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3600"/>
              <a:t>Conclusion</a:t>
            </a:r>
            <a:endParaRPr lang="en-US" altLang="en-US" sz="3600"/>
          </a:p>
          <a:p>
            <a:endParaRPr lang="en-US" altLang="en-US" sz="3600"/>
          </a:p>
          <a:p>
            <a:r>
              <a:rPr lang="en-US" altLang="en-US" sz="2000"/>
              <a:t>Developed a hybrid recommendation system combining Collaborative Filtering and FP-Growth</a:t>
            </a:r>
            <a:endParaRPr lang="en-US" altLang="en-US" sz="2000"/>
          </a:p>
          <a:p>
            <a:r>
              <a:rPr lang="en-US" altLang="en-US" sz="2000"/>
              <a:t>Successfully generated personalized and relevant product recommendations</a:t>
            </a:r>
            <a:endParaRPr lang="en-US" altLang="en-US" sz="2000"/>
          </a:p>
          <a:p>
            <a:r>
              <a:rPr lang="en-US" altLang="en-US" sz="2000"/>
              <a:t>Hybrid approach improved recommendation quality and diversity compared to individual models</a:t>
            </a:r>
            <a:endParaRPr lang="en-US" altLang="en-US" sz="2000"/>
          </a:p>
          <a:p>
            <a:r>
              <a:rPr lang="en-US" altLang="en-US" sz="2000"/>
              <a:t>System effectively handles large datasets and real-world scenario</a:t>
            </a:r>
            <a:r>
              <a:rPr lang="en-US" altLang="en-US"/>
              <a:t>s</a:t>
            </a:r>
            <a:endParaRPr lang="en-US" altLang="en-US"/>
          </a:p>
        </p:txBody>
      </p:sp>
      <p:sp>
        <p:nvSpPr>
          <p:cNvPr id="16" name="Rectangle 15"/>
          <p:cNvSpPr/>
          <p:nvPr/>
        </p:nvSpPr>
        <p:spPr>
          <a:xfrm>
            <a:off x="12628880" y="7732395"/>
            <a:ext cx="1910080" cy="4972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1534160" y="3969385"/>
            <a:ext cx="970407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/>
              <a:t>GitHub link:</a:t>
            </a:r>
            <a:endParaRPr lang="en-US" altLang="en-US" sz="2800"/>
          </a:p>
          <a:p>
            <a:endParaRPr lang="en-US" altLang="en-US"/>
          </a:p>
          <a:p>
            <a:r>
              <a:rPr lang="en-US" altLang="en-US"/>
              <a:t>https://github.com/sharun-g/ecommerce-recommendation-system.git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3399</Words>
  <Application>WPS Presentation</Application>
  <PresentationFormat>On-screen Show (16:9)</PresentationFormat>
  <Paragraphs>166</Paragraphs>
  <Slides>14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Arial</vt:lpstr>
      <vt:lpstr>SimSun</vt:lpstr>
      <vt:lpstr>Wingdings</vt:lpstr>
      <vt:lpstr>Brygada 1918 Semi Bold</vt:lpstr>
      <vt:lpstr>Brygada 1918 Semi Bold</vt:lpstr>
      <vt:lpstr>Brygada 1918 Semi Bold</vt:lpstr>
      <vt:lpstr>Brygada 1918</vt:lpstr>
      <vt:lpstr>Brygada 1918</vt:lpstr>
      <vt:lpstr>Brygada 1918</vt:lpstr>
      <vt:lpstr>Times New Roman</vt:lpstr>
      <vt:lpstr>Bahnschrift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Sharun Gunti</cp:lastModifiedBy>
  <cp:revision>11</cp:revision>
  <dcterms:created xsi:type="dcterms:W3CDTF">2026-04-01T12:46:00Z</dcterms:created>
  <dcterms:modified xsi:type="dcterms:W3CDTF">2026-04-29T17:50:31Z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3BF7683DA62843759E1525429C45CA3C_13</vt:lpwstr>
  </property>
</Properties>
</file>